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471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760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HONEYWELL ECO-LOOP BUILDING AGENTS HACKATHON  • 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D2D6E"/>
                </a:solidFill>
                <a:latin typeface="Calibri"/>
              </a:rPr>
              <a:t>Eco-Loop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4BA0"/>
                </a:solidFill>
                <a:latin typeface="Calibri"/>
              </a:rPr>
              <a:t>Autonomous Physical AI for Smart Building HVAC Optimisation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926080"/>
            <a:ext cx="9418320" cy="36576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1A"/>
                </a:solidFill>
                <a:latin typeface="Calibri"/>
              </a:rPr>
              <a:t>PROBLEM STATEMENT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1" dirty="0">
                <a:solidFill>
                  <a:srgbClr val="0D2D6E"/>
                </a:solidFill>
                <a:latin typeface="Calibri"/>
              </a:rPr>
              <a:t>No. 1 Type: MS</a:t>
            </a:r>
            <a:endParaRPr sz="1400" b="1" i="0" dirty="0">
              <a:solidFill>
                <a:srgbClr val="0D2D6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1A"/>
                </a:solidFill>
                <a:latin typeface="Calibri"/>
              </a:rPr>
              <a:t>PS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6E"/>
                </a:solidFill>
                <a:latin typeface="Calibri"/>
              </a:rPr>
              <a:t>Autonomous AI HVAC Control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13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1A"/>
                </a:solidFill>
                <a:latin typeface="Calibri"/>
              </a:rPr>
              <a:t>PS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6E"/>
                </a:solidFill>
                <a:latin typeface="Calibri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13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1A"/>
                </a:solidFill>
                <a:latin typeface="Calibri"/>
              </a:rPr>
              <a:t>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D6E"/>
                </a:solidFill>
                <a:latin typeface="Calibri"/>
              </a:rPr>
              <a:t>Smart Buildings &amp; Energy Efficiency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572000"/>
            <a:ext cx="9966960" cy="365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33333"/>
                </a:solidFill>
                <a:latin typeface="Calibri"/>
              </a:rPr>
              <a:t>👤  Arnav Shukla  •  Student ID: </a:t>
            </a:r>
            <a:r>
              <a:rPr lang="en-IN" sz="1400" dirty="0">
                <a:solidFill>
                  <a:srgbClr val="333333"/>
                </a:solidFill>
              </a:rPr>
              <a:t>honeywellcampus16250120524181 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•  Registered Name on Portal: Arnav Shukla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4BA0"/>
                </a:solidFill>
                <a:latin typeface="Calibri"/>
              </a:rPr>
              <a:t>🔗  github.com/Arnavshukla09/Eco_Loop_Building_Agents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IDEA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2011680"/>
          </a:xfrm>
          <a:prstGeom prst="rect">
            <a:avLst/>
          </a:prstGeom>
          <a:solidFill>
            <a:srgbClr val="0D2D6E"/>
          </a:solidFill>
          <a:ln w="381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Eco-Loop: Autonomous Physical AI for Smart HVAC Optimisation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832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456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D6E"/>
                </a:solidFill>
                <a:latin typeface="Calibri"/>
              </a:rPr>
              <a:t>🧠 Local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Qwen2.5-7B via Ollama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3832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3456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D6E"/>
                </a:solidFill>
                <a:latin typeface="Calibri"/>
              </a:rPr>
              <a:t>🔌 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10 Building Automation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3832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456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D6E"/>
                </a:solidFill>
                <a:latin typeface="Calibri"/>
              </a:rPr>
              <a:t>🏢 EnergyPlus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Real Physics 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3832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3456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D6E"/>
                </a:solidFill>
                <a:latin typeface="Calibri"/>
              </a:rPr>
              <a:t>📊 Live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React + WebSocket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4BA0"/>
                </a:solidFill>
                <a:latin typeface="Calibri"/>
              </a:rPr>
              <a:t>One closed loop. Every 30 seconds. Sense → Analyse → Decide → Actuate. Fully autonomous, fully local.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1A"/>
                </a:solidFill>
                <a:latin typeface="Calibri"/>
              </a:rPr>
              <a:t>🎯 Estimated energy savings: 16.9% vs fixed-setpoint baseline  |  CO₂ avoided: ~930 kg/year per building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FF"/>
                </a:solidFill>
                <a:latin typeface="Calibri"/>
              </a:rPr>
              <a:t>Describe your Idea / Solution /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5760720" cy="347472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Detailed Explanation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444752"/>
            <a:ext cx="5760720" cy="2670048"/>
          </a:xfrm>
          <a:prstGeom prst="rect">
            <a:avLst/>
          </a:prstGeom>
          <a:solidFill>
            <a:srgbClr val="F5F5F5"/>
          </a:solidFill>
          <a:ln w="12700">
            <a:solidFill>
              <a:srgbClr val="0D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5486400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Eco-Loop is an autonomous Physical AI system that continuously controls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HVAC setpoints in a multi-zone office building using a local open-source LLM.</a:t>
            </a:r>
          </a:p>
          <a:p>
            <a:pPr algn="l"/>
            <a:endParaRPr sz="120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The system operates in a 30-second closed loop: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1. EnergyPlus simulation provides real-time sensor readings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2. MCP server exposes 10 building tools to the AI agent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3. Qwen2.5-7B (via Ollama) analyses conditions + issues JSON decisions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4. Setpoints are applied to each zone independently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5. Results broadcast live to the React dashboard via WebSocket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5852160" cy="347472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11556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44752"/>
            <a:ext cx="5852160" cy="2670048"/>
          </a:xfrm>
          <a:prstGeom prst="rect">
            <a:avLst/>
          </a:prstGeom>
          <a:solidFill>
            <a:srgbClr val="F5F5F5"/>
          </a:solidFill>
          <a:ln w="12700">
            <a:solidFill>
              <a:srgbClr val="0D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481328"/>
            <a:ext cx="5577840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Buildings waste 30–40% of energy from fixed HVAC schedules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that ignore occupancy, weather, and real-time conditions.</a:t>
            </a:r>
          </a:p>
          <a:p>
            <a:pPr algn="l"/>
            <a:endParaRPr sz="120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Eco-Loop solves this by: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Real-time adaptive setpoints per zone (not global fixed)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Occupancy-aware: widens deadband when building is empty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Weather-responsive: anticipates heating/cooling demand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Orientation-aware: perimeter zones treated independently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Predicted savings: 16.9% energy, 21.6% peak demand 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251960"/>
            <a:ext cx="11795760" cy="347472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427024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599432"/>
            <a:ext cx="11795760" cy="1664208"/>
          </a:xfrm>
          <a:prstGeom prst="rect">
            <a:avLst/>
          </a:prstGeom>
          <a:solidFill>
            <a:srgbClr val="F5F5F5"/>
          </a:solidFill>
          <a:ln w="12700">
            <a:solidFill>
              <a:srgbClr val="0D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4636008"/>
            <a:ext cx="115214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🔒 100% Local  — No cloud APIs. LLM runs on-device via Ollama. Zero data privacy risk.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🔌 MCP Protocol — Building exposed as AI tools, compatible with ANY MCP client (Claude, Cursor, GPT).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🧪 Dual Mode  — Seamlessly switches between real EnergyPlus and built-in physics simulator.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💬 Explainable — Every decision includes plain-English reasoning and confidence score in the dashboard.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FF"/>
                </a:solidFill>
                <a:latin typeface="Calibri"/>
              </a:rPr>
              <a:t>Technologies, Frameworks &amp;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760720" cy="384048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795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🐍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819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Python 3.11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933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048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asyncio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163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Pydantic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278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6393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tenacity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760720" cy="384048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1795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🤖 AI /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5819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Qwen2.5-7B (Ollama)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9933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FastMCP 3.x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4048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Structured JSON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8163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Rule-based 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657600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3657600"/>
            <a:ext cx="5760720" cy="384048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6941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🏢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0965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EnergyPlus 24.1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079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Python EnergyPlus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9194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Custom Physics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330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Fanger PMV/PPD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657600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657600"/>
            <a:ext cx="5760720" cy="384048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6941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0965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React 18 + Vite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5079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TailwindCSS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9194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Chart.js + react-chartjs-2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5330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  ✓  WebSocket (real-time)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" y="182879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FF"/>
                </a:solidFill>
                <a:latin typeface="Calibri"/>
              </a:rPr>
              <a:t>System Architecture &amp;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371600"/>
            <a:ext cx="1930370" cy="91440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58943" y="1507382"/>
            <a:ext cx="2414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Calibri"/>
              </a:rPr>
              <a:t>EnergyPlus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
Simulation
(5-zone office)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2485" y="1415598"/>
            <a:ext cx="1703291" cy="884609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96321" y="1544647"/>
            <a:ext cx="190244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Shared State
Store
(Thread-safe)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20C550-D20E-EE43-17DE-50D958E5CD6F}"/>
              </a:ext>
            </a:extLst>
          </p:cNvPr>
          <p:cNvGrpSpPr/>
          <p:nvPr/>
        </p:nvGrpSpPr>
        <p:grpSpPr>
          <a:xfrm>
            <a:off x="5512951" y="2304288"/>
            <a:ext cx="2560320" cy="979981"/>
            <a:chOff x="6126480" y="822960"/>
            <a:chExt cx="2560320" cy="979981"/>
          </a:xfrm>
        </p:grpSpPr>
        <p:sp>
          <p:nvSpPr>
            <p:cNvPr id="10" name="Rectangle 9"/>
            <p:cNvSpPr/>
            <p:nvPr/>
          </p:nvSpPr>
          <p:spPr>
            <a:xfrm>
              <a:off x="6126480" y="822960"/>
              <a:ext cx="2560320" cy="914400"/>
            </a:xfrm>
            <a:prstGeom prst="rect">
              <a:avLst/>
            </a:prstGeom>
            <a:solidFill>
              <a:srgbClr val="FF6B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44767" y="979981"/>
              <a:ext cx="2414015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 dirty="0">
                  <a:solidFill>
                    <a:srgbClr val="FFFFFF"/>
                  </a:solidFill>
                  <a:latin typeface="Calibri"/>
                </a:rPr>
                <a:t>MCP Server
(</a:t>
              </a:r>
              <a:r>
                <a:rPr sz="1100" b="1" i="0" dirty="0" err="1">
                  <a:solidFill>
                    <a:srgbClr val="FFFFFF"/>
                  </a:solidFill>
                  <a:latin typeface="Calibri"/>
                </a:rPr>
                <a:t>FastMCP</a:t>
              </a:r>
              <a:r>
                <a:rPr sz="1100" b="1" i="0" dirty="0">
                  <a:solidFill>
                    <a:srgbClr val="FFFFFF"/>
                  </a:solidFill>
                  <a:latin typeface="Calibri"/>
                </a:rPr>
                <a:t> 3.x)
10 AI Tools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5511083" y="3502152"/>
            <a:ext cx="256032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546973" y="3656125"/>
            <a:ext cx="2414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AI Agent Loop
Qwen2.5-7B
Every 30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371600"/>
            <a:ext cx="2560320" cy="91440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2" y="1417320"/>
            <a:ext cx="25968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FastAPI
Backend
REST + WebSocket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19" y="3566160"/>
            <a:ext cx="2560320" cy="822960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80128" y="3674510"/>
            <a:ext cx="2414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Decision
Validation
&amp; Actuation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566160"/>
            <a:ext cx="274320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3611879"/>
            <a:ext cx="25968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React Dashboard
Live Charts
AI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6193" y="170535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333333"/>
                </a:solidFill>
                <a:latin typeface="Calibri"/>
              </a:rPr>
              <a:t>Sensor readings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3675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333333"/>
                </a:solidFill>
                <a:latin typeface="Calibri"/>
              </a:rPr>
              <a:t>Tools exposed 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3" y="168470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333333"/>
                </a:solidFill>
                <a:latin typeface="Calibri"/>
              </a:rPr>
              <a:t>State broadcast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Calibri"/>
              </a:rPr>
              <a:t>← Setpoints applied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8251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333333"/>
                </a:solidFill>
                <a:latin typeface="Calibri"/>
              </a:rPr>
              <a:t>WebSocket stream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4846320"/>
            <a:ext cx="11795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82880" y="4846320"/>
            <a:ext cx="11795760" cy="34747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488289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Closed-Loop Cycle (every 30 seconds)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30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Calibri"/>
              </a:rPr>
              <a:t>①  EnergyPlus steps → temperatures, energy, comfort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5230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Calibri"/>
              </a:rPr>
              <a:t>②  MCP tools called → structured building snapshot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5230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Calibri"/>
              </a:rPr>
              <a:t>③  Qwen2.5 LLM analyses → JSON setpoint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8" y="5230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Calibri"/>
              </a:rPr>
              <a:t>④  Validation → apply to all 5 zones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5230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Calibri"/>
              </a:rPr>
              <a:t>⑤  WebSocket → dashboard updates in real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97280"/>
            <a:ext cx="3794760" cy="384048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" y="1133856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Feasibility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81328"/>
            <a:ext cx="3794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" y="153619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Full working prototype built and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21214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Backend: 8/8 Python modules import cleanly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70662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Frontend: React builds successfully (4.37s)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329183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Physics sim: Verified 0.17°C/step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387705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Ollama integration: Tested with Qwen2.5-7B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446227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MCP server: All 10 tools functional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504748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Runs on a standard laptop (no GPU required)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563270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Simulation speedup: 60× (1 day in 6 sec)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7096" y="1097280"/>
            <a:ext cx="379476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88536" y="1133856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⚠️ Challenges &amp; Risks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7096" y="1481328"/>
            <a:ext cx="3794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06824" y="153619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EnergyPlus API: Complex Python bindings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21214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LLM latency: 2–5s per decision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270662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JSON parsing: LLM may produce invalid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329183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Multi-zone coordination: Conflicting setpoints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387705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Thermal physics: Accurate calibration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446227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Windows compatibility: Path handling issues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504748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Production scale: Single-building PoC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1097280"/>
            <a:ext cx="379476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1133856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🛡️ Mitigation Strategies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1481328"/>
            <a:ext cx="3794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153619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Physics simulator fallback (always available)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1214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Rule-based agent fallback (no LLM needed)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70662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Pydantic schema validation on all LLM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29183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Setpoint bounds enforced (16–22°C heat, 20–30°C cool)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87705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30× thermal mass multiplier for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46227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Cross-platform path handling in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04748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• Modular design: plug in real BMS sensors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FF"/>
                </a:solidFill>
                <a:latin typeface="Calibri"/>
              </a:rPr>
              <a:t>Source Code Architecture — 33 Files, ~160KB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11795760" cy="36576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24712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File / Module                      Purpose                                        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17957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481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backend/energyplus_runner.py  (23KB)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48132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EnergyPlus API + physics sim dual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148132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837944"/>
            <a:ext cx="1179576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8562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backend/llm_agent.py          (12KB)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5623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Ollama/Qwen2.5 + rule-based fallback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185623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212848"/>
            <a:ext cx="117957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22311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backend/mcp_server.py         (12KB)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3113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FastMCP server — 10 building automation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2231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587752"/>
            <a:ext cx="1179576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2606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backend/controller.py         ( 9KB)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60604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Autonomous control loop (sim + AI + actuation)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26060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962656"/>
            <a:ext cx="117957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29809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backend/app.py                (10KB)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8094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FastAPI: REST + WebSocket + MCP mount + SPA 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298094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337560"/>
            <a:ext cx="1179576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33558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backend/state.py              ( 9KB)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35584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Thread-safe singleton state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355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712464"/>
            <a:ext cx="117957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37307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backend/dashboard_api.py      ( 4KB)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73075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WebSocket connection manager + broadcast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37307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4087368"/>
            <a:ext cx="1179576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41056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frontend/src/App.jsx          ( 7KB)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10565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Main React app: header, grid, all components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410565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462272"/>
            <a:ext cx="117957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44805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frontend/src/components/      (28KB)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480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7 components: MetricCard, AIPanel, Charts, ZoneGrid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4480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837176"/>
            <a:ext cx="1179576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4320" y="48554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config/settings.py            ( 6KB)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85546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Pydantic-based settings (all env-var driven)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48554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5212079"/>
            <a:ext cx="117957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52303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energyplus/building.idf       (12KB)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23036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5-zone office EnergyPlus input file with EMS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52303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5586983"/>
            <a:ext cx="1179576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4320" y="56052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D6E"/>
                </a:solidFill>
                <a:latin typeface="Courier New"/>
              </a:rPr>
              <a:t>run.py                        ( 9KB)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560527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Single-command launcher with dependency checks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5605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FF"/>
                </a:solidFill>
                <a:latin typeface="Calibri"/>
              </a:rPr>
              <a:t>Key Code Snippets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5760720" cy="347472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MCP Tool — read_building_state (mcp_server.py)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444752"/>
            <a:ext cx="576072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1481328"/>
            <a:ext cx="5541264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E88D"/>
                </a:solidFill>
                <a:latin typeface="Courier New"/>
              </a:rPr>
              <a:t>@mcp.tool()
async def read_building_state() -&gt; dict:
    """Read full building state — all zones."""    obs = state_store.get_observation()
    return {
        "zones": {z: {"temperature": s.temperature,
                       "setpoint_cooling": s.setpoint_cooling,
                       "pmv": s.pmv_score}
                   for z, s in obs.zones.items()},
        "hvac_power_kw": obs.hvac_power_kw,
        "total_energy_kwh": obs.total_energy_kwh,
        "outdoor_temp": obs.outdoor_temp,
        "occupancy_pct": obs.occupancy * 100,
   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760720" cy="347472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11556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 Agent Decision (llm_agent.py)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44752"/>
            <a:ext cx="576072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481328"/>
            <a:ext cx="5541264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E88D"/>
                </a:solidFill>
                <a:latin typeface="Courier New"/>
              </a:rPr>
              <a:t>async def analyze_and_decide(obs, history):
    prompt = self._build_prompt(obs, history)
    response = await self._client.chat(
        model=settings.LLM_MODEL,
        messages=[{"role": "user",
                   "content": prompt}],
        format=AgentDecision.model_json_schema(),
        options={"temperature": 0.3},
    )
    return AgentDecision.model_validate_json(
        response.message.content
    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206240"/>
            <a:ext cx="11795760" cy="347472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422452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Sample AI Decision JSON Output (Qwen2.5-7B response)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553712"/>
            <a:ext cx="11795760" cy="19842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4590288"/>
            <a:ext cx="1157630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7978A"/>
                </a:solidFill>
                <a:latin typeface="Courier New"/>
              </a:rPr>
              <a:t>{
  "zone_setpoints": { "Core": {"cooling": 25.0, "heating": 19.0},
                      "Perimeter_N": {"cooling": 24.0, "heating": 20.0},
                      "Perimeter_S": {"cooling": 25.5, "heating": 19.5} },
  "fan_speed": "medium",   "energy_mode": "eco",   "confidence": 0.88,
  "reasoning": "Low occupancy (52%) detected at 14:00. Widening deadband on all zones to reduce compressor load.
                South-facing perimeter has solar gain — raising cooling SP 1.5°C. Est. savings: 14.2%.",
  "estimated_savings_pct": 14.2
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FF"/>
                </a:solidFill>
                <a:latin typeface="Calibri"/>
              </a:rPr>
              <a:t>Dashboard Design &amp; Simulation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11795760" cy="4206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1179576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🏢  Eco-Loop Building Agent   |   Honeywell Automated Control   |   ●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19072"/>
            <a:ext cx="210312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7556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🌡️ Avg Temp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93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4BA0"/>
                </a:solidFill>
                <a:latin typeface="Calibri"/>
              </a:rPr>
              <a:t>22.3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08483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4BA0"/>
                </a:solidFill>
                <a:latin typeface="Calibri"/>
              </a:rPr>
              <a:t>°C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719072"/>
            <a:ext cx="210312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1488" y="17556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⚡ HVAC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993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1A"/>
                </a:solidFill>
                <a:latin typeface="Calibri"/>
              </a:rPr>
              <a:t>14.2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08483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1A"/>
                </a:solidFill>
                <a:latin typeface="Calibri"/>
              </a:rPr>
              <a:t>kW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8" y="1719072"/>
            <a:ext cx="210312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17556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💚 Comfort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993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  <a:latin typeface="Calibri"/>
              </a:rPr>
              <a:t>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08483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2048" y="1719072"/>
            <a:ext cx="210312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33488" y="17556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💰 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1993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  <a:latin typeface="Calibri"/>
              </a:rPr>
              <a:t>16.9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08483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28048" y="1719072"/>
            <a:ext cx="210312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19488" y="17556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🌿 CO₂ Saved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1993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  <a:latin typeface="Calibri"/>
              </a:rPr>
              <a:t>8.2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45368" y="208483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kg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2816352"/>
            <a:ext cx="7498079" cy="14813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2816352"/>
            <a:ext cx="64008" cy="148132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852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🤖 AI Agent Decision  |  Mode: ECO  |  Confidence: 88%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20040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1D5DB"/>
                </a:solidFill>
                <a:latin typeface="Calibri"/>
              </a:rPr>
              <a:t>"Low afternoon occupancy at 52%. Widening thermal deadband on all zones.
South-facing perimeter raising cooling SP +1.5°C (solar gain detected).
Fan reduced to medium. Est. savings this cycle: 14.2%."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315968"/>
            <a:ext cx="7498079" cy="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01000" y="2816352"/>
            <a:ext cx="3886200" cy="14813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92440" y="2852928"/>
            <a:ext cx="37490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💚 Comfort Score: 87%
PMV: +0.15 (Neutral)
ASHRAE 55: ✓ Compliant
PPD: 6.2%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394960"/>
            <a:ext cx="11795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Total Energy (kWh)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D6E"/>
                </a:solidFill>
                <a:latin typeface="Calibri"/>
              </a:rPr>
              <a:t>125.3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0008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Baseline (kWh)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0008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D6E"/>
                </a:solidFill>
                <a:latin typeface="Calibri"/>
              </a:rPr>
              <a:t>142.5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Peak Demand (kW)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34256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D6E"/>
                </a:solidFill>
                <a:latin typeface="Calibri"/>
              </a:rPr>
              <a:t>19.2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Baseline Peak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D6E"/>
                </a:solidFill>
                <a:latin typeface="Calibri"/>
              </a:rPr>
              <a:t>24.5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Energy Saving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D6E"/>
                </a:solidFill>
                <a:latin typeface="Calibri"/>
              </a:rPr>
              <a:t>16.9%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CO₂ Avoided/yr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D6E"/>
                </a:solidFill>
                <a:latin typeface="Calibri"/>
              </a:rPr>
              <a:t>930 kg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5760720" cy="347472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3385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📐 Standards &amp; Comfort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57607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1508760"/>
            <a:ext cx="5541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ASHRAE Standard 55-2017: Thermal Environmental Conditions for Human Occupancy — Used for PMV/PPD comfort bounds and compliance thresholds.
ISO 7730:2005: Ergonomics of the thermal environment — Fanger PMV equation implementation.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760720" cy="347472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113385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🏢 Building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44752"/>
            <a:ext cx="57607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1508760"/>
            <a:ext cx="5541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EnergyPlus v24.1 Documentation &amp; Engineering Reference (US DOE, 2024) — Building physics, HVAC ideal loads, EMS actuator API.
https://energyplus.net/documentation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880360"/>
            <a:ext cx="5760720" cy="347472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91693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🤖 AI /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227832"/>
            <a:ext cx="57607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3291840"/>
            <a:ext cx="5541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Qwen2.5 Technical Report — Alibaba DAMO Academy (2024) — LLM used for decision-making.
Ollama Documentation — Local LLM serving: https://ollama.com
Model Context Protocol Specification — Anthropic MCP (2024): https://modelcontextprotocol.io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80360"/>
            <a:ext cx="5760720" cy="347472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59" y="291693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🔌 Frameworks &amp; Libraries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27832"/>
            <a:ext cx="57607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3291840"/>
            <a:ext cx="5541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FastMCP 3.x Documentation — https://gofastmcp.com
FastAPI — https://fastapi.tiangolo.com
React + Vite + TailwindCSS — https://vitejs.dev  |  https://tailwindcss.com
Chart.js — https://www.chartjs.org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663440"/>
            <a:ext cx="5760720" cy="347472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7000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📊 Energy 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010912"/>
            <a:ext cx="57607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5074920"/>
            <a:ext cx="5541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US DOE: 'Buildings Energy Data Book' — Building sector: 40% of US energy consumption.
ACEEE: 'Energy Efficiency in Buildings' — HVAC accounts for 40% of building energy use.
IEA: 'Buildings — Tracking Clean Energy Progress 2024' — Global building emissions baseline.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63440"/>
            <a:ext cx="5760720" cy="347472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47000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🔗 Project Repository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010912"/>
            <a:ext cx="57607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5074920"/>
            <a:ext cx="5541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GitHub: https://github.com/Arnavshukla09/Eco_Loop_Building_Agents
All source code, documentation, IDF models, and demo scripts available open-source.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FF"/>
                </a:solidFill>
                <a:latin typeface="Calibri"/>
              </a:rPr>
              <a:t>Honeywell Eco-Loop Building Agents  •  Smart India Hackathon 2024  •  https://github.com/Arnavshukla09/Eco_Loop_Building_Agents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2170</Words>
  <Application>Microsoft Office PowerPoint</Application>
  <PresentationFormat>Custom</PresentationFormat>
  <Paragraphs>225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Arnav Shukla</cp:lastModifiedBy>
  <cp:revision>3</cp:revision>
  <dcterms:created xsi:type="dcterms:W3CDTF">2013-01-27T09:14:16Z</dcterms:created>
  <dcterms:modified xsi:type="dcterms:W3CDTF">2026-07-26T17:13:12Z</dcterms:modified>
  <cp:category/>
</cp:coreProperties>
</file>